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7F90E24-973D-72C9-FF24-01B3DA8299E4}">
          <p14:sldIdLst>
            <p14:sldId id="256"/>
          </p14:sldIdLst>
        </p14:section>
        <p14:section name="Project" id="{C9E70351-77CB-B8A1-3B99-60279EA8E459}">
          <p14:sldIdLst>
            <p14:sldId id="257"/>
            <p14:sldId id="258"/>
          </p14:sldIdLst>
        </p14:section>
        <p14:section name="Method" id="{2EFF99C3-3B0C-2ABC-97EC-D437AF034DE7}">
          <p14:sldIdLst>
            <p14:sldId id="259"/>
            <p14:sldId id="260"/>
          </p14:sldIdLst>
        </p14:section>
        <p14:section name="Results" id="{7408F740-38C9-DCF5-08FB-3476BA7D91F5}">
          <p14:sldIdLst>
            <p14:sldId id="261"/>
            <p14:sldId id="262"/>
          </p14:sldIdLst>
        </p14:section>
        <p14:section name="Wrap-up" id="{DBE159E5-1CB8-B78F-AEBF-926491C668BF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157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teach a computer to recognise what you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searching by drawing. Then the goal and why it is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exact class names and images per class from the repo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 ML (Poojitha) vs deep learning (Ramitha). Same data and split for every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layers left to right, then explain why each ablation was tried.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from RESULTS.md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here: python app/demo.py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these with your real findings and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UE24CS352A  |  Machine Learning  |  Ramitha &amp; Poojitha</a:t>
            </a:r>
            <a:endParaRPr lang="en-US" sz="9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UE24CS352A  |  Machine Learning  |  Ramitha &amp; Poojitha</a:t>
            </a:r>
            <a:endParaRPr lang="en-US" sz="9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0"/>
          <p:cNvSpPr/>
          <p:nvPr/>
        </p:nvSpPr>
        <p:spPr>
          <a:xfrm>
            <a:off x="6583680" y="274320"/>
            <a:ext cx="2926080" cy="2926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90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3" name="Decor 1"/>
          <p:cNvSpPr/>
          <p:nvPr/>
        </p:nvSpPr>
        <p:spPr>
          <a:xfrm>
            <a:off x="7589520" y="2194560"/>
            <a:ext cx="2194560" cy="219456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9050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4" name="Decor 2"/>
          <p:cNvSpPr/>
          <p:nvPr/>
        </p:nvSpPr>
        <p:spPr>
          <a:xfrm>
            <a:off x="5852160" y="3108960"/>
            <a:ext cx="2011680" cy="201168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9050">
            <a:solidFill>
              <a:schemeClr val="accent3">
                <a:alpha val="50000"/>
              </a:schemeClr>
            </a:solidFill>
            <a:prstDash val="solid"/>
          </a:ln>
        </p:spPr>
      </p:sp>
      <p:pic>
        <p:nvPicPr>
          <p:cNvPr id="5" name="Image 0" descr="penc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MACHINE LEARNING MINI-PROJECT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463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Drawing: A New Way to Search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2"/>
                </a:solidFill>
              </a:rPr>
              <a:t>Recognising hand-drawn doodles with the QuickDraw dataset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3383280"/>
            <a:ext cx="109728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611880"/>
            <a:ext cx="7055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Ramitha (PES1UG24AM)  &amp;  Poojitha(PES1UG24AM384)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UE24CS352A - Machine Learning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The idea card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he idea accent"/>
          <p:cNvSpPr/>
          <p:nvPr/>
        </p:nvSpPr>
        <p:spPr>
          <a:xfrm>
            <a:off x="457200" y="1280160"/>
            <a:ext cx="64008" cy="2926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he idea badg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The idea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The idea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 starts with typed words, yet sometimes it is easier to sketch what you mean.</a:t>
            </a:r>
            <a:endParaRPr lang="en-US" sz="1400" dirty="0"/>
          </a:p>
        </p:txBody>
      </p:sp>
      <p:sp>
        <p:nvSpPr>
          <p:cNvPr id="9" name="Our goal card"/>
          <p:cNvSpPr/>
          <p:nvPr/>
        </p:nvSpPr>
        <p:spPr>
          <a:xfrm>
            <a:off x="3291840" y="128016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Our goal accent"/>
          <p:cNvSpPr/>
          <p:nvPr/>
        </p:nvSpPr>
        <p:spPr>
          <a:xfrm>
            <a:off x="3291840" y="128016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ur goal badge"/>
          <p:cNvSpPr/>
          <p:nvPr/>
        </p:nvSpPr>
        <p:spPr>
          <a:xfrm>
            <a:off x="356616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Our goa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645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Our goal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Classify a hand-drawn doodle into the correct object category.</a:t>
            </a:r>
            <a:endParaRPr lang="en-US" sz="1400" dirty="0"/>
          </a:p>
        </p:txBody>
      </p:sp>
      <p:sp>
        <p:nvSpPr>
          <p:cNvPr id="15" name="The challenge card"/>
          <p:cNvSpPr/>
          <p:nvPr/>
        </p:nvSpPr>
        <p:spPr>
          <a:xfrm>
            <a:off x="6126480" y="128016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he challenge accent"/>
          <p:cNvSpPr/>
          <p:nvPr/>
        </p:nvSpPr>
        <p:spPr>
          <a:xfrm>
            <a:off x="6126480" y="1280160"/>
            <a:ext cx="64008" cy="2926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he challenge badge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2" descr="The challeng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645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challenge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Abstract sketches, only 28 x 28 pixels, and look-alike classes.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Dataset: Google QuickDraw</a:t>
            </a:r>
            <a:endParaRPr lang="en-US" sz="2600" dirty="0"/>
          </a:p>
        </p:txBody>
      </p:sp>
      <p:sp>
        <p:nvSpPr>
          <p:cNvPr id="3" name="Stat 0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28x28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pixels per doodle</a:t>
            </a:r>
            <a:endParaRPr lang="en-US" sz="1400" dirty="0"/>
          </a:p>
        </p:txBody>
      </p:sp>
      <p:sp>
        <p:nvSpPr>
          <p:cNvPr id="6" name="Stat 1"/>
          <p:cNvSpPr/>
          <p:nvPr/>
        </p:nvSpPr>
        <p:spPr>
          <a:xfrm>
            <a:off x="3291840" y="1188720"/>
            <a:ext cx="2651760" cy="1554480"/>
          </a:xfrm>
          <a:prstGeom prst="rect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object classes</a:t>
            </a:r>
            <a:endParaRPr lang="en-US" sz="1400" dirty="0"/>
          </a:p>
        </p:txBody>
      </p:sp>
      <p:sp>
        <p:nvSpPr>
          <p:cNvPr id="9" name="Stat 2"/>
          <p:cNvSpPr/>
          <p:nvPr/>
        </p:nvSpPr>
        <p:spPr>
          <a:xfrm>
            <a:off x="6126480" y="1188720"/>
            <a:ext cx="2651760" cy="1554480"/>
          </a:xfrm>
          <a:prstGeom prst="rect">
            <a:avLst/>
          </a:prstGeom>
          <a:solidFill>
            <a:schemeClr val="tx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80/10/10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train / val / test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Drawings from players of Google's Quick Draw! game.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Numpy bitmap version with thousands of images per class.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Pixels scaled to 0-1; a black/white version is tested too.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Fixed random seed, so every model sees the same split.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Approach: Four Models Compared</a:t>
            </a:r>
            <a:endParaRPr lang="en-US" sz="2600" dirty="0"/>
          </a:p>
        </p:txBody>
      </p:sp>
      <p:sp>
        <p:nvSpPr>
          <p:cNvPr id="3" name="Logistic Regression card"/>
          <p:cNvSpPr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Logistic Regression accent"/>
          <p:cNvSpPr/>
          <p:nvPr/>
        </p:nvSpPr>
        <p:spPr>
          <a:xfrm>
            <a:off x="457200" y="118872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Logistic Regression badge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Logistic Regressi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Logistic Regression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83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Fast baseline. Treats pixels as flat features.</a:t>
            </a:r>
            <a:endParaRPr lang="en-US" sz="1300" dirty="0"/>
          </a:p>
        </p:txBody>
      </p:sp>
      <p:sp>
        <p:nvSpPr>
          <p:cNvPr id="9" name="SVM card"/>
          <p:cNvSpPr/>
          <p:nvPr/>
        </p:nvSpPr>
        <p:spPr>
          <a:xfrm>
            <a:off x="4663440" y="118872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VM accent"/>
          <p:cNvSpPr/>
          <p:nvPr/>
        </p:nvSpPr>
        <p:spPr>
          <a:xfrm>
            <a:off x="4663440" y="118872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VM badge"/>
          <p:cNvSpPr/>
          <p:nvPr/>
        </p:nvSpPr>
        <p:spPr>
          <a:xfrm>
            <a:off x="4937760" y="16002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mage 1" descr="SV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6928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SVM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783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chemeClr val="tx1"/>
                </a:solidFill>
              </a:rPr>
              <a:t>Linear (linear decision boundaries) and RBF(</a:t>
            </a:r>
            <a:r>
              <a:rPr lang="en-IN" sz="1400" dirty="0"/>
              <a:t>complex, nonlinear boundaries</a:t>
            </a:r>
            <a:r>
              <a:rPr lang="en-US" sz="1300" dirty="0">
                <a:solidFill>
                  <a:schemeClr val="tx1"/>
                </a:solidFill>
              </a:rPr>
              <a:t>) kernels, trained on a subset.</a:t>
            </a:r>
            <a:endParaRPr lang="en-US" sz="1300" dirty="0"/>
          </a:p>
        </p:txBody>
      </p:sp>
      <p:sp>
        <p:nvSpPr>
          <p:cNvPr id="15" name="CNN from scratch card"/>
          <p:cNvSpPr/>
          <p:nvPr/>
        </p:nvSpPr>
        <p:spPr>
          <a:xfrm>
            <a:off x="457200" y="278892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NN from scratch accent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NN from scratch badge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CNN from scratch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375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CNN from scratch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463040" y="3383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Learns shapes with conv and pooling layers.</a:t>
            </a:r>
            <a:endParaRPr lang="en-US" sz="1300" dirty="0"/>
          </a:p>
        </p:txBody>
      </p:sp>
      <p:sp>
        <p:nvSpPr>
          <p:cNvPr id="21" name="MobileNetV2 card"/>
          <p:cNvSpPr/>
          <p:nvPr/>
        </p:nvSpPr>
        <p:spPr>
          <a:xfrm>
            <a:off x="4663440" y="278892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MobileNetV2 accent"/>
          <p:cNvSpPr/>
          <p:nvPr/>
        </p:nvSpPr>
        <p:spPr>
          <a:xfrm>
            <a:off x="4663440" y="278892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MobileNetV2 badge"/>
          <p:cNvSpPr/>
          <p:nvPr/>
        </p:nvSpPr>
        <p:spPr>
          <a:xfrm>
            <a:off x="4937760" y="32004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3" descr="MobileNetV2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3375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692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MobileNetV2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5669280" y="3383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Transfer learning from ImageNet, frozen base.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Every model is compared on accuracy and training time.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Implementation: Our CNN</a:t>
            </a:r>
            <a:endParaRPr lang="en-US" sz="2600" dirty="0"/>
          </a:p>
        </p:txBody>
      </p:sp>
      <p:sp>
        <p:nvSpPr>
          <p:cNvPr id="3" name="Layer Input0"/>
          <p:cNvSpPr/>
          <p:nvPr/>
        </p:nvSpPr>
        <p:spPr>
          <a:xfrm>
            <a:off x="457200" y="1325880"/>
            <a:ext cx="1051560" cy="13716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Input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28x28</a:t>
            </a:r>
            <a:endParaRPr lang="en-US" sz="1000" dirty="0"/>
          </a:p>
        </p:txBody>
      </p:sp>
      <p:sp>
        <p:nvSpPr>
          <p:cNvPr id="6" name="Layer Conv1"/>
          <p:cNvSpPr/>
          <p:nvPr/>
        </p:nvSpPr>
        <p:spPr>
          <a:xfrm>
            <a:off x="1645920" y="1143000"/>
            <a:ext cx="1051560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17830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Conv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32 filters</a:t>
            </a:r>
            <a:endParaRPr lang="en-US" sz="1000" dirty="0"/>
          </a:p>
        </p:txBody>
      </p:sp>
      <p:sp>
        <p:nvSpPr>
          <p:cNvPr id="9" name="Layer MaxPool2"/>
          <p:cNvSpPr/>
          <p:nvPr/>
        </p:nvSpPr>
        <p:spPr>
          <a:xfrm>
            <a:off x="2834640" y="1371600"/>
            <a:ext cx="1051560" cy="1280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7830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MaxPool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2x2</a:t>
            </a:r>
            <a:endParaRPr lang="en-US" sz="1000" dirty="0"/>
          </a:p>
        </p:txBody>
      </p:sp>
      <p:sp>
        <p:nvSpPr>
          <p:cNvPr id="12" name="Layer Conv3"/>
          <p:cNvSpPr/>
          <p:nvPr/>
        </p:nvSpPr>
        <p:spPr>
          <a:xfrm>
            <a:off x="4023360" y="1234440"/>
            <a:ext cx="1051560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17830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64 filters</a:t>
            </a:r>
            <a:endParaRPr lang="en-US" sz="1000" dirty="0"/>
          </a:p>
        </p:txBody>
      </p:sp>
      <p:sp>
        <p:nvSpPr>
          <p:cNvPr id="15" name="Layer MaxPool4"/>
          <p:cNvSpPr/>
          <p:nvPr/>
        </p:nvSpPr>
        <p:spPr>
          <a:xfrm>
            <a:off x="5212080" y="1463040"/>
            <a:ext cx="1051560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7830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MaxPool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2x2</a:t>
            </a:r>
            <a:endParaRPr lang="en-US" sz="1000" dirty="0"/>
          </a:p>
        </p:txBody>
      </p:sp>
      <p:sp>
        <p:nvSpPr>
          <p:cNvPr id="18" name="Layer Dense5"/>
          <p:cNvSpPr/>
          <p:nvPr/>
        </p:nvSpPr>
        <p:spPr>
          <a:xfrm>
            <a:off x="6400800" y="1325880"/>
            <a:ext cx="105156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17830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Dense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128</a:t>
            </a:r>
            <a:endParaRPr lang="en-US" sz="1000" dirty="0"/>
          </a:p>
        </p:txBody>
      </p:sp>
      <p:sp>
        <p:nvSpPr>
          <p:cNvPr id="21" name="Layer Softmax6"/>
          <p:cNvSpPr/>
          <p:nvPr/>
        </p:nvSpPr>
        <p:spPr>
          <a:xfrm>
            <a:off x="7589520" y="1554480"/>
            <a:ext cx="1051560" cy="914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17830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Softmax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10 classes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Ablations tested</a:t>
            </a:r>
            <a:endParaRPr lang="en-US" sz="1600" dirty="0"/>
          </a:p>
        </p:txBody>
      </p:sp>
      <p:sp>
        <p:nvSpPr>
          <p:cNvPr id="25" name="Chip 0"/>
          <p:cNvSpPr/>
          <p:nvPr/>
        </p:nvSpPr>
        <p:spPr>
          <a:xfrm>
            <a:off x="457200" y="3566160"/>
            <a:ext cx="19659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566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Remove a conv layer</a:t>
            </a:r>
            <a:endParaRPr lang="en-US" sz="1200" dirty="0"/>
          </a:p>
        </p:txBody>
      </p:sp>
      <p:sp>
        <p:nvSpPr>
          <p:cNvPr id="27" name="Chip 1"/>
          <p:cNvSpPr/>
          <p:nvPr/>
        </p:nvSpPr>
        <p:spPr>
          <a:xfrm>
            <a:off x="2560320" y="3566160"/>
            <a:ext cx="19659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60320" y="3566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Remove pooling</a:t>
            </a:r>
            <a:endParaRPr lang="en-US" sz="1200" dirty="0"/>
          </a:p>
        </p:txBody>
      </p:sp>
      <p:sp>
        <p:nvSpPr>
          <p:cNvPr id="29" name="Chip 2"/>
          <p:cNvSpPr/>
          <p:nvPr/>
        </p:nvSpPr>
        <p:spPr>
          <a:xfrm>
            <a:off x="4663440" y="3566160"/>
            <a:ext cx="19659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3566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Smaller dense layer</a:t>
            </a:r>
            <a:endParaRPr lang="en-US" sz="1200" dirty="0"/>
          </a:p>
        </p:txBody>
      </p:sp>
      <p:sp>
        <p:nvSpPr>
          <p:cNvPr id="31" name="Chip 3"/>
          <p:cNvSpPr/>
          <p:nvPr/>
        </p:nvSpPr>
        <p:spPr>
          <a:xfrm>
            <a:off x="6766560" y="3566160"/>
            <a:ext cx="19659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3566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Binarised input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Tools: Python, scikit-learn, TensorFlow/Keras, Gradio, GitHub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Results</a:t>
            </a:r>
            <a:endParaRPr lang="en-US" sz="2600" dirty="0"/>
          </a:p>
        </p:txBody>
      </p:sp>
      <p:graphicFrame>
        <p:nvGraphicFramePr>
          <p:cNvPr id="7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708882"/>
              </p:ext>
            </p:extLst>
          </p:nvPr>
        </p:nvGraphicFramePr>
        <p:xfrm>
          <a:off x="457200" y="1188720"/>
          <a:ext cx="8229600" cy="230428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Test accuracy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Training time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69.30%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TBD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Linear SVM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67.00%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TBD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Subset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RBF SVM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82.40%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TBD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Subset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CNN (best variant)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92.40%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TBD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From scratch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MobileNetV2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90.40%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TBD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Transfer learning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Note: Test sample sizes differed across models, so this is not a perfectly controlled comparison. MobileNetV2 results are preliminary because the test dataset was used for validation during training.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Live Demo: Draw and Predict</a:t>
            </a:r>
            <a:endParaRPr lang="en-US" sz="2600" dirty="0"/>
          </a:p>
        </p:txBody>
      </p:sp>
      <p:sp>
        <p:nvSpPr>
          <p:cNvPr id="3" name="Num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Draw a doodle on the canvas</a:t>
            </a:r>
            <a:endParaRPr lang="en-US" sz="1600" dirty="0"/>
          </a:p>
        </p:txBody>
      </p:sp>
      <p:sp>
        <p:nvSpPr>
          <p:cNvPr id="6" name="Num 2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CNN predicts live</a:t>
            </a:r>
            <a:endParaRPr lang="en-US" sz="1600" dirty="0"/>
          </a:p>
        </p:txBody>
      </p:sp>
      <p:sp>
        <p:nvSpPr>
          <p:cNvPr id="9" name="Num 3"/>
          <p:cNvSpPr/>
          <p:nvPr/>
        </p:nvSpPr>
        <p:spPr>
          <a:xfrm>
            <a:off x="457200" y="2788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See the top-3 guesses</a:t>
            </a:r>
            <a:endParaRPr lang="en-US" sz="1600" dirty="0"/>
          </a:p>
        </p:txBody>
      </p:sp>
      <p:sp>
        <p:nvSpPr>
          <p:cNvPr id="12" name="Num 4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Try look-alike classes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1st guess</a:t>
            </a:r>
            <a:endParaRPr lang="en-US" sz="1200" dirty="0"/>
          </a:p>
        </p:txBody>
      </p:sp>
      <p:sp>
        <p:nvSpPr>
          <p:cNvPr id="18" name="Bar 0"/>
          <p:cNvSpPr/>
          <p:nvPr/>
        </p:nvSpPr>
        <p:spPr>
          <a:xfrm>
            <a:off x="6858000" y="1691640"/>
            <a:ext cx="173736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2nd</a:t>
            </a:r>
            <a:endParaRPr lang="en-US" sz="1200" dirty="0"/>
          </a:p>
        </p:txBody>
      </p:sp>
      <p:sp>
        <p:nvSpPr>
          <p:cNvPr id="20" name="Bar 1"/>
          <p:cNvSpPr/>
          <p:nvPr/>
        </p:nvSpPr>
        <p:spPr>
          <a:xfrm>
            <a:off x="6858000" y="2514600"/>
            <a:ext cx="914400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3rd</a:t>
            </a:r>
            <a:endParaRPr lang="en-US" sz="1200" dirty="0"/>
          </a:p>
        </p:txBody>
      </p:sp>
      <p:sp>
        <p:nvSpPr>
          <p:cNvPr id="22" name="Bar 2"/>
          <p:cNvSpPr/>
          <p:nvPr/>
        </p:nvSpPr>
        <p:spPr>
          <a:xfrm>
            <a:off x="6858000" y="3337560"/>
            <a:ext cx="457200" cy="274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4325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Layout preview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FFAE86-1409-B0BC-173B-1E2A61DD1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005840"/>
            <a:ext cx="3117533" cy="33192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Conclusions and Future Work</a:t>
            </a:r>
            <a:endParaRPr lang="en-US" sz="2600" dirty="0"/>
          </a:p>
        </p:txBody>
      </p:sp>
      <p:sp>
        <p:nvSpPr>
          <p:cNvPr id="3" name="What we compared card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What we compared accent"/>
          <p:cNvSpPr/>
          <p:nvPr/>
        </p:nvSpPr>
        <p:spPr>
          <a:xfrm>
            <a:off x="457200" y="128016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What we compared badg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What we compare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we compared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dirty="0"/>
              <a:t>Developed a QuickDraw doodle recognition system to classify hand-drawn sketches into 10 categories.</a:t>
            </a:r>
          </a:p>
          <a:p>
            <a:r>
              <a:rPr lang="en-IN" sz="1200" dirty="0"/>
              <a:t>Compared Logistic Regression, Linear SVM, RBF SVM, CNN, and MobileNetV2.</a:t>
            </a:r>
          </a:p>
        </p:txBody>
      </p:sp>
      <p:sp>
        <p:nvSpPr>
          <p:cNvPr id="9" name="What we found card"/>
          <p:cNvSpPr/>
          <p:nvPr/>
        </p:nvSpPr>
        <p:spPr>
          <a:xfrm>
            <a:off x="3291840" y="128016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What we found accent"/>
          <p:cNvSpPr/>
          <p:nvPr/>
        </p:nvSpPr>
        <p:spPr>
          <a:xfrm>
            <a:off x="3291840" y="1280160"/>
            <a:ext cx="64008" cy="2926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What we found badge"/>
          <p:cNvSpPr/>
          <p:nvPr/>
        </p:nvSpPr>
        <p:spPr>
          <a:xfrm>
            <a:off x="356616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What we fou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645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What we found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The CNN achieved the highest measured accuracy of </a:t>
            </a:r>
            <a:r>
              <a:rPr lang="en-US" sz="1200" b="1" dirty="0"/>
              <a:t>92.40%</a:t>
            </a:r>
            <a:r>
              <a:rPr lang="en-US" sz="1200" dirty="0"/>
              <a:t>.</a:t>
            </a:r>
          </a:p>
          <a:p>
            <a:r>
              <a:rPr lang="en-US" sz="1200" dirty="0"/>
              <a:t>Among classical machine learning models, RBF SVM performed best with </a:t>
            </a:r>
            <a:r>
              <a:rPr lang="en-US" sz="1200" b="1" dirty="0"/>
              <a:t>82.40%</a:t>
            </a:r>
            <a:r>
              <a:rPr lang="en-US" sz="1200" dirty="0"/>
              <a:t> accuracy.</a:t>
            </a:r>
          </a:p>
          <a:p>
            <a:r>
              <a:rPr lang="en-US" sz="1200" dirty="0"/>
              <a:t>Built a demo that displays the top-3 predicted classes for a drawing.</a:t>
            </a:r>
          </a:p>
        </p:txBody>
      </p:sp>
      <p:sp>
        <p:nvSpPr>
          <p:cNvPr id="15" name="What is next card"/>
          <p:cNvSpPr/>
          <p:nvPr/>
        </p:nvSpPr>
        <p:spPr>
          <a:xfrm>
            <a:off x="6126480" y="128016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What is next accent"/>
          <p:cNvSpPr/>
          <p:nvPr/>
        </p:nvSpPr>
        <p:spPr>
          <a:xfrm>
            <a:off x="6126480" y="1280160"/>
            <a:ext cx="64008" cy="2926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What is next badge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mage 2" descr="What is nex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645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What is next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Improve recognition of visually similar doodles.</a:t>
            </a:r>
          </a:p>
          <a:p>
            <a:r>
              <a:rPr lang="en-US" sz="1400" dirty="0"/>
              <a:t>Improve the demo interface and prediction speed.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2603182" y="1947387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ckDraw Pro">
  <a:themeElements>
    <a:clrScheme name="QuickDraw Pro">
      <a:dk1>
        <a:srgbClr val="1B2430"/>
      </a:dk1>
      <a:lt1>
        <a:srgbClr val="FFFFFF"/>
      </a:lt1>
      <a:dk2>
        <a:srgbClr val="0F1E36"/>
      </a:dk2>
      <a:lt2>
        <a:srgbClr val="EEF3F8"/>
      </a:lt2>
      <a:accent1>
        <a:srgbClr val="1FB89C"/>
      </a:accent1>
      <a:accent2>
        <a:srgbClr val="F28C38"/>
      </a:accent2>
      <a:accent3>
        <a:srgbClr val="4C84C8"/>
      </a:accent3>
      <a:accent4>
        <a:srgbClr val="8E6CC9"/>
      </a:accent4>
      <a:accent5>
        <a:srgbClr val="E05A7A"/>
      </a:accent5>
      <a:accent6>
        <a:srgbClr val="6B7A8C"/>
      </a:accent6>
      <a:hlink>
        <a:srgbClr val="4C84C8"/>
      </a:hlink>
      <a:folHlink>
        <a:srgbClr val="8E6CC9"/>
      </a:folHlink>
    </a:clrScheme>
    <a:fontScheme name="QuickDraw Pro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586</Words>
  <Application>Microsoft Office PowerPoint</Application>
  <PresentationFormat>On-screen Show (16:9)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QuickDraw Pro</vt:lpstr>
      <vt:lpstr>PowerPoint Presentation</vt:lpstr>
      <vt:lpstr>Problem Statement</vt:lpstr>
      <vt:lpstr>Dataset: Google QuickDraw</vt:lpstr>
      <vt:lpstr>Approach: Four Models Compared</vt:lpstr>
      <vt:lpstr>Implementation: Our CNN</vt:lpstr>
      <vt:lpstr>Results</vt:lpstr>
      <vt:lpstr>Live Demo: Draw and Predict</vt:lpstr>
      <vt:lpstr>Conclusions and Future Work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Drawing: A New Way to Search</dc:title>
  <dc:subject>PptxGenJS Presentation</dc:subject>
  <dc:creator>Ramitha and Poojitha</dc:creator>
  <cp:lastModifiedBy>Poojitha Lakshmi b r</cp:lastModifiedBy>
  <cp:revision>9</cp:revision>
  <dcterms:created xsi:type="dcterms:W3CDTF">2026-10-10T10:33:53Z</dcterms:created>
  <dcterms:modified xsi:type="dcterms:W3CDTF">2026-10-12T06:14:00Z</dcterms:modified>
</cp:coreProperties>
</file>